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56" r:id="rId2"/>
    <p:sldId id="257" r:id="rId3"/>
    <p:sldId id="258" r:id="rId4"/>
    <p:sldId id="260" r:id="rId5"/>
    <p:sldId id="259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C267"/>
    <a:srgbClr val="5FA9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B1CBD-3DA4-0F91-8751-26D74EA7A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C7BC1E-6816-EDB8-A29D-CB7C669D2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2413-888A-7A86-5EEB-7285A1853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3E24B4-0785-5A0C-37EB-BCE1A494E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98E4-01D3-2DE5-4F0C-FD60180C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480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FD61A-7493-ECB8-23B7-A2A3E1AA2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6FFC4-F71B-FD7A-2255-4A37D2CB6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C6CB5-846C-5177-E3FC-F47CD2DEC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69A44-A4C6-0EAF-3364-6AC6E3B0F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EBAF2-28AB-EEF3-FDAC-11525300D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89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8C6A-5815-3345-C21C-7D635DAD0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E5A86A-01B1-BE54-6C7C-8E4158B32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6A0FF-63FF-AC4D-26C5-3B3DBE923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0C93F-F613-D2B4-2CAC-0E768DE7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A36B7-1079-1AFA-5418-A933D6D6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204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CA8DE-A03A-071C-3C4B-F8A16540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E4244-F371-36A4-A98A-40387FCB8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CA5B4-3F8A-109E-C89B-5410C4324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E6D951-8050-DFDD-DBAF-2A9B6B1F3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A279D-7C85-A6E5-5B11-43F7D6792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181EA-5EB3-CE4F-126B-2AAFA25A5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17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69157-7D96-0C31-CC50-814D18E0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515E5-B8AC-3621-E713-5839D20EE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69D5A-39E1-5A04-A390-5D8555F55C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CC932-4F47-BC8E-46B7-826C184033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6845E-4C7A-18AA-09F1-E4814F2769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67B3B2-10BC-C141-6804-CE4233B81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4B0FB3-5C4E-B3B1-B800-BE2DC9CF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88C7E1-270F-7189-EADF-9916B879E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369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6D86-F850-D570-B385-F75A84FFE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70726E-838D-43A5-3ED5-8E7069643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D79EF3-123F-BF01-A7E1-392BE15F1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BEC19D-F76E-E3E9-C2A1-2F3D1F24C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990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D79F3-F1AE-00BB-71C8-B9A11E75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A134D9-0E11-9DC0-B5DA-D81536D28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C86CB-820B-0077-EC41-DC2D8642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18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4F8F-DF4C-9220-1CBA-81F5921D5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8A0B6-0C10-2AFD-3410-466B010DA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39006-0672-F8E7-4E13-9CCCE8744C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B932B-1B32-CE37-2A1C-432611B66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1475E5-9216-B71B-361D-3DFE97414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86D56-2C4F-6B3B-8DCF-4DA9BFAD8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484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B0BED-3D3D-C081-5F42-295604650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7AAC46-3D97-59FB-B9F9-252A58E4B3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C36C1F-10D7-7327-3CBA-F11DC5D2B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374164-E551-59CE-6931-AFFCA150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531DFB-8A40-599D-00B1-596BCFFD7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3CE64-F348-3AE1-6C90-8B7392F8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805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3F439-6AE6-FC7B-0260-FE3457012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F14FD-1506-2C7D-0568-0ADBA77DE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3E83A-0173-83EA-535B-280A0FC01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BCD39B-6F89-9813-8B72-AA6092A5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7204E-3EEF-1DE9-BF1E-2CFE35D90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238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49125-F8B3-15CE-248A-DEB1573AAE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F46E43-2905-69C5-ABF6-55BDAA20A6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DE3E68-3634-D819-5DF9-F2FA83016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37149-A054-377E-9699-D7FE7F98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0BD28-0C20-B63A-1CAF-3AF70F38D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850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4A20FC-D328-5647-9A31-6B10E43CC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5E3DE-3131-A8EC-A494-76850D981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2C2650-546F-EB49-C5E0-A1AAE08F5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3/10/2026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E8FFF-676B-8D1F-087C-6397EFC4F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736A7-D3A9-66A1-5DBF-C20EC693E6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050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atterns.greensoftware.foundation/catalog/cloud/optimize-avg-cpu-utiliza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1E47633-F1F9-0D33-3455-28E67C37E1DA}"/>
              </a:ext>
            </a:extLst>
          </p:cNvPr>
          <p:cNvSpPr/>
          <p:nvPr/>
        </p:nvSpPr>
        <p:spPr>
          <a:xfrm>
            <a:off x="567559" y="1912883"/>
            <a:ext cx="11067393" cy="2785241"/>
          </a:xfrm>
          <a:prstGeom prst="roundRect">
            <a:avLst/>
          </a:prstGeom>
          <a:solidFill>
            <a:srgbClr val="7DC2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A8C29B2-8A4D-9280-10C4-CCEAFA33914E}"/>
              </a:ext>
            </a:extLst>
          </p:cNvPr>
          <p:cNvSpPr/>
          <p:nvPr/>
        </p:nvSpPr>
        <p:spPr>
          <a:xfrm>
            <a:off x="3281680" y="5864574"/>
            <a:ext cx="5760720" cy="653143"/>
          </a:xfrm>
          <a:prstGeom prst="roundRect">
            <a:avLst/>
          </a:prstGeom>
          <a:solidFill>
            <a:srgbClr val="7DC2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92E77-58D9-1E04-D489-D3B82CCF2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797" y="2191599"/>
            <a:ext cx="10558405" cy="1036312"/>
          </a:xfrm>
        </p:spPr>
        <p:txBody>
          <a:bodyPr anchor="b">
            <a:normAutofit/>
          </a:bodyPr>
          <a:lstStyle/>
          <a:p>
            <a:r>
              <a:rPr lang="en-GB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GSoC</a:t>
            </a:r>
            <a:r>
              <a:rPr lang="en-GB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– GreenMetaData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7F051C-8FC2-9764-CB4D-7912C1B4D9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797" y="3429000"/>
            <a:ext cx="10558405" cy="2234485"/>
          </a:xfrm>
        </p:spPr>
        <p:txBody>
          <a:bodyPr anchor="t">
            <a:normAutofit/>
          </a:bodyPr>
          <a:lstStyle/>
          <a:p>
            <a:r>
              <a:rPr lang="en-GB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Rosie Schiffmann</a:t>
            </a:r>
          </a:p>
          <a:p>
            <a:r>
              <a:rPr lang="en-GB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10/03/26</a:t>
            </a:r>
          </a:p>
        </p:txBody>
      </p:sp>
      <p:pic>
        <p:nvPicPr>
          <p:cNvPr id="2056" name="Picture 8" descr="Google Summer of Code 2021 - Software Heritage Wiki">
            <a:extLst>
              <a:ext uri="{FF2B5EF4-FFF2-40B4-BE49-F238E27FC236}">
                <a16:creationId xmlns:a16="http://schemas.microsoft.com/office/drawing/2014/main" id="{E87ED651-057D-CD8A-157D-9CE6895D3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940" y="5864574"/>
            <a:ext cx="5482118" cy="65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72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9BF5A-41C9-5E5A-D232-AFD6C4FFB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243" y="147528"/>
            <a:ext cx="8432118" cy="1218258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60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Green Computing… </a:t>
            </a:r>
            <a:r>
              <a:rPr lang="en-US" sz="80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W</a:t>
            </a:r>
            <a:r>
              <a:rPr lang="en-US" sz="8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hy?</a:t>
            </a:r>
            <a:endParaRPr lang="en-US" sz="60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D7D2FD-7B6E-05C3-72EE-A41A0EF1299F}"/>
              </a:ext>
            </a:extLst>
          </p:cNvPr>
          <p:cNvSpPr/>
          <p:nvPr/>
        </p:nvSpPr>
        <p:spPr>
          <a:xfrm>
            <a:off x="380028" y="1773832"/>
            <a:ext cx="3179248" cy="44598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/>
              <a:t>High performance computing and data centres emit ~</a:t>
            </a:r>
            <a:r>
              <a:rPr lang="en-GB" sz="2400" b="1" dirty="0"/>
              <a:t>100 megatons</a:t>
            </a:r>
            <a:r>
              <a:rPr lang="en-GB" sz="2400" dirty="0"/>
              <a:t> of CO2e per year </a:t>
            </a:r>
          </a:p>
          <a:p>
            <a:pPr algn="ctr"/>
            <a:r>
              <a:rPr lang="en-GB" sz="1100" dirty="0"/>
              <a:t>(</a:t>
            </a:r>
            <a:r>
              <a:rPr lang="en-GB" sz="1100" dirty="0" err="1"/>
              <a:t>Lannelongue</a:t>
            </a:r>
            <a:r>
              <a:rPr lang="en-GB" sz="1100" dirty="0"/>
              <a:t> et al. 2021)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2A07711-32FB-A9F1-6CA2-93B6411B6746}"/>
              </a:ext>
            </a:extLst>
          </p:cNvPr>
          <p:cNvSpPr/>
          <p:nvPr/>
        </p:nvSpPr>
        <p:spPr>
          <a:xfrm>
            <a:off x="4045028" y="1773832"/>
            <a:ext cx="3810946" cy="445982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GB" sz="2400" dirty="0"/>
              <a:t>Typical carbon cost of training a large </a:t>
            </a:r>
            <a:r>
              <a:rPr lang="en-GB" sz="2400" b="1" dirty="0"/>
              <a:t>transformer</a:t>
            </a:r>
            <a:r>
              <a:rPr lang="en-GB" sz="2400" dirty="0"/>
              <a:t> with neural architecture search is ~</a:t>
            </a:r>
            <a:r>
              <a:rPr lang="en-GB" sz="2400" b="1" dirty="0"/>
              <a:t>5 cars' lifetimes </a:t>
            </a:r>
            <a:r>
              <a:rPr lang="en-GB" sz="2400" dirty="0"/>
              <a:t>worth of carbon</a:t>
            </a:r>
          </a:p>
          <a:p>
            <a:pPr algn="ctr"/>
            <a:r>
              <a:rPr lang="en-GB" sz="1100" dirty="0"/>
              <a:t>(</a:t>
            </a:r>
            <a:r>
              <a:rPr lang="en-GB" sz="1100" dirty="0" err="1"/>
              <a:t>Strubell</a:t>
            </a:r>
            <a:r>
              <a:rPr lang="en-GB" sz="1100" dirty="0"/>
              <a:t> et al. 2019)</a:t>
            </a:r>
            <a:endParaRPr lang="en-GB" sz="2400" dirty="0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B14A2CCC-55A1-FAB6-158D-A5FB53BE5206}"/>
              </a:ext>
            </a:extLst>
          </p:cNvPr>
          <p:cNvSpPr/>
          <p:nvPr/>
        </p:nvSpPr>
        <p:spPr>
          <a:xfrm>
            <a:off x="8272359" y="1406317"/>
            <a:ext cx="3539613" cy="2989007"/>
          </a:xfrm>
          <a:prstGeom prst="foldedCorner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/>
          </a:p>
          <a:p>
            <a:pPr algn="ctr"/>
            <a:r>
              <a:rPr lang="en-GB" sz="2800" dirty="0"/>
              <a:t>In research, computational cost is often sacrificed at the hands of statistical significance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DD04442-1070-DFC3-B078-5A6B7F1B5C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170" y="4435855"/>
            <a:ext cx="2996897" cy="207207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3C36545-7D7F-C112-1863-763D9621C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449" y="4435855"/>
            <a:ext cx="2048103" cy="1603554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CE0C705A-3272-AB5E-856B-5DB6BB3F20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933" y="4106091"/>
            <a:ext cx="2567272" cy="178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38195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4031A-9652-ADBA-B2C0-B2D02F1D4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EBB60-3A1F-22EA-7B4B-0B304F691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6583" y="119606"/>
            <a:ext cx="5678833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GreenMetaData</a:t>
            </a:r>
            <a:endParaRPr lang="en-US" sz="48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922B387-3093-1455-BB09-40AC525373B5}"/>
              </a:ext>
            </a:extLst>
          </p:cNvPr>
          <p:cNvSpPr/>
          <p:nvPr/>
        </p:nvSpPr>
        <p:spPr>
          <a:xfrm>
            <a:off x="953729" y="1340270"/>
            <a:ext cx="10284542" cy="1356851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GreenMetaData establishes a </a:t>
            </a:r>
            <a:r>
              <a:rPr lang="en-GB" sz="2800" b="1" dirty="0"/>
              <a:t>standardised </a:t>
            </a:r>
            <a:r>
              <a:rPr lang="en-GB" sz="2800" dirty="0"/>
              <a:t>system for reporting </a:t>
            </a:r>
            <a:r>
              <a:rPr lang="en-GB" sz="2800" b="1" dirty="0"/>
              <a:t>software emissions</a:t>
            </a:r>
            <a:r>
              <a:rPr lang="en-GB" sz="2800" dirty="0"/>
              <a:t>, aiding a shift in academic spaces toward </a:t>
            </a:r>
            <a:r>
              <a:rPr lang="en-GB" sz="2800" b="1" dirty="0"/>
              <a:t>greener</a:t>
            </a:r>
            <a:r>
              <a:rPr lang="en-GB" sz="2800" dirty="0"/>
              <a:t> attitudes and practices…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AE4D88B-14AE-01F1-B497-9A7DF4426983}"/>
              </a:ext>
            </a:extLst>
          </p:cNvPr>
          <p:cNvSpPr/>
          <p:nvPr/>
        </p:nvSpPr>
        <p:spPr>
          <a:xfrm>
            <a:off x="412955" y="3018451"/>
            <a:ext cx="3033252" cy="35592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/>
              <a:t>Benchmarking</a:t>
            </a:r>
            <a:r>
              <a:rPr lang="en-GB" sz="2800" dirty="0"/>
              <a:t> carbon emissions of software becomes standard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8CCA760-CE0D-841B-345C-8CBE9509381E}"/>
              </a:ext>
            </a:extLst>
          </p:cNvPr>
          <p:cNvSpPr/>
          <p:nvPr/>
        </p:nvSpPr>
        <p:spPr>
          <a:xfrm>
            <a:off x="4579373" y="3018451"/>
            <a:ext cx="3033254" cy="35592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Researchers become </a:t>
            </a:r>
            <a:r>
              <a:rPr lang="en-GB" sz="2800" b="1" dirty="0"/>
              <a:t>conscious</a:t>
            </a:r>
            <a:r>
              <a:rPr lang="en-GB" sz="2800" dirty="0"/>
              <a:t> of their  </a:t>
            </a:r>
            <a:r>
              <a:rPr lang="en-GB" sz="2800" b="1" dirty="0"/>
              <a:t>environmental impact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DCADFA-2F91-AA89-DFA3-9C07740075D9}"/>
              </a:ext>
            </a:extLst>
          </p:cNvPr>
          <p:cNvSpPr/>
          <p:nvPr/>
        </p:nvSpPr>
        <p:spPr>
          <a:xfrm>
            <a:off x="8745793" y="3018451"/>
            <a:ext cx="3033254" cy="3559278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Carbon costs become integrated into research </a:t>
            </a:r>
            <a:r>
              <a:rPr lang="en-GB" sz="2800" b="1" dirty="0"/>
              <a:t>planning</a:t>
            </a:r>
            <a:r>
              <a:rPr lang="en-GB" sz="2800" dirty="0"/>
              <a:t> and </a:t>
            </a:r>
            <a:r>
              <a:rPr lang="en-GB" sz="2800" b="1" dirty="0"/>
              <a:t>budgeting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38122B1-AE84-3541-69C6-BB624B8C3D17}"/>
              </a:ext>
            </a:extLst>
          </p:cNvPr>
          <p:cNvSpPr/>
          <p:nvPr/>
        </p:nvSpPr>
        <p:spPr>
          <a:xfrm>
            <a:off x="3706761" y="4483510"/>
            <a:ext cx="737420" cy="44245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CA5AB57-376B-031E-F6E2-812EF8967CF4}"/>
              </a:ext>
            </a:extLst>
          </p:cNvPr>
          <p:cNvSpPr/>
          <p:nvPr/>
        </p:nvSpPr>
        <p:spPr>
          <a:xfrm>
            <a:off x="7810500" y="4483510"/>
            <a:ext cx="737420" cy="442451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98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56AA0-D3C1-9964-2705-231481CAF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E62E-2482-B668-0ABF-E6C98328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08" y="280271"/>
            <a:ext cx="10788694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54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Topics of Interest: </a:t>
            </a:r>
            <a:r>
              <a:rPr lang="en-US" sz="54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Immediate Impacts</a:t>
            </a:r>
            <a:endParaRPr lang="en-US" sz="5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3F2ADB2F-A877-F77D-FA17-137BD133B2A1}"/>
              </a:ext>
            </a:extLst>
          </p:cNvPr>
          <p:cNvSpPr/>
          <p:nvPr/>
        </p:nvSpPr>
        <p:spPr>
          <a:xfrm>
            <a:off x="265472" y="1750141"/>
            <a:ext cx="3431457" cy="449334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Verifiable, Tamper-Proof Audits 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Git version control locking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Digital fingerprint/hash 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Preventing greenwashing and develop trust within the green research space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Computer readable (to avoid tampering and be consistent) alongside user friendly interface with human readable results for presentations.  </a:t>
            </a:r>
          </a:p>
        </p:txBody>
      </p:sp>
      <p:sp>
        <p:nvSpPr>
          <p:cNvPr id="6" name="Rectangle: Folded Corner 5">
            <a:extLst>
              <a:ext uri="{FF2B5EF4-FFF2-40B4-BE49-F238E27FC236}">
                <a16:creationId xmlns:a16="http://schemas.microsoft.com/office/drawing/2014/main" id="{F4051E6E-9993-5FEF-8DCD-AFD2E541686A}"/>
              </a:ext>
            </a:extLst>
          </p:cNvPr>
          <p:cNvSpPr/>
          <p:nvPr/>
        </p:nvSpPr>
        <p:spPr>
          <a:xfrm>
            <a:off x="4265126" y="1750141"/>
            <a:ext cx="3431457" cy="449334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Computer and Human Readable Outputs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Computer readable to promote consistent auditing, with easy integration across other software tools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Human readable results for non-expert accessibility and transparency with users </a:t>
            </a:r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EC346710-0770-FD7C-D034-516FD25DE950}"/>
              </a:ext>
            </a:extLst>
          </p:cNvPr>
          <p:cNvSpPr/>
          <p:nvPr/>
        </p:nvSpPr>
        <p:spPr>
          <a:xfrm>
            <a:off x="8264780" y="1750141"/>
            <a:ext cx="3431458" cy="4493342"/>
          </a:xfrm>
          <a:prstGeom prst="foldedCorner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Energy Hotspot Flagging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To focus future developments of projects on aspect that provide the maximum reduction of carbon costs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accent6">
                    <a:lumMod val="50000"/>
                  </a:schemeClr>
                </a:solidFill>
                <a:latin typeface="Aptos Display" panose="02110004020202020204"/>
              </a:rPr>
              <a:t>Provide data on specific hardware energy consumption for researchers to make informed decisions on their hardware based on the requirements of their software.</a:t>
            </a:r>
            <a:endParaRPr lang="en-US" sz="2400" dirty="0">
              <a:solidFill>
                <a:schemeClr val="accent6">
                  <a:lumMod val="50000"/>
                </a:schemeClr>
              </a:solidFill>
              <a:latin typeface="Aptos Display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580237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740DC-9F39-58EF-3DD3-EFDFFC110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EA4AB-C9D0-404D-3D57-01497DCE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53" y="240942"/>
            <a:ext cx="11605492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Topics of Interest: Contributions to the future </a:t>
            </a:r>
            <a:endParaRPr lang="en-US" sz="4800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9B1885E-4FB7-54E4-2A5B-AFA37D3054E6}"/>
              </a:ext>
            </a:extLst>
          </p:cNvPr>
          <p:cNvSpPr txBox="1">
            <a:spLocks/>
          </p:cNvSpPr>
          <p:nvPr/>
        </p:nvSpPr>
        <p:spPr>
          <a:xfrm>
            <a:off x="9242323" y="1300941"/>
            <a:ext cx="2840802" cy="26939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 Display" panose="02110004020202020204"/>
              <a:ea typeface="+mj-ea"/>
              <a:cs typeface="+mj-cs"/>
            </a:endParaRP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0F0372F6-530E-B095-FD20-19D93DD04E90}"/>
              </a:ext>
            </a:extLst>
          </p:cNvPr>
          <p:cNvSpPr/>
          <p:nvPr/>
        </p:nvSpPr>
        <p:spPr>
          <a:xfrm>
            <a:off x="1288027" y="1748257"/>
            <a:ext cx="3883741" cy="4493342"/>
          </a:xfrm>
          <a:prstGeom prst="foldedCorner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bg1"/>
                </a:solidFill>
                <a:latin typeface="Aptos Display" panose="02110004020202020204"/>
              </a:rPr>
              <a:t>Green Hardware Ranking System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Tracking the performance per watt and incorporating into the GreenMetaData file format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Include hardware manufacturing energy costs 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Provide a green-guide for buying new hardware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Incentive for hardware suppliers to </a:t>
            </a:r>
            <a:r>
              <a:rPr lang="en-US" sz="2000" dirty="0" err="1">
                <a:solidFill>
                  <a:schemeClr val="bg1"/>
                </a:solidFill>
                <a:latin typeface="Aptos Display" panose="02110004020202020204"/>
              </a:rPr>
              <a:t>minimise</a:t>
            </a: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 their manufacturing and operational carbon costs</a:t>
            </a:r>
          </a:p>
        </p:txBody>
      </p:sp>
      <p:sp>
        <p:nvSpPr>
          <p:cNvPr id="5" name="Rectangle: Folded Corner 4">
            <a:extLst>
              <a:ext uri="{FF2B5EF4-FFF2-40B4-BE49-F238E27FC236}">
                <a16:creationId xmlns:a16="http://schemas.microsoft.com/office/drawing/2014/main" id="{7E888741-5F95-5D66-475A-20340A1F1A56}"/>
              </a:ext>
            </a:extLst>
          </p:cNvPr>
          <p:cNvSpPr/>
          <p:nvPr/>
        </p:nvSpPr>
        <p:spPr>
          <a:xfrm>
            <a:off x="6646247" y="1748257"/>
            <a:ext cx="4016477" cy="4493342"/>
          </a:xfrm>
          <a:prstGeom prst="foldedCorner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2400" b="1" dirty="0">
                <a:solidFill>
                  <a:schemeClr val="bg1"/>
                </a:solidFill>
                <a:latin typeface="Aptos Display" panose="02110004020202020204"/>
              </a:rPr>
              <a:t>Spatially and Temporally Carbon-Aware Computing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Locate and use HPC facilities in low carbon intensity regions via cloud computing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Pause computation in periods of high carbon intensity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Include a metric of carbon-awareness in the GreenMetaData file format</a:t>
            </a:r>
          </a:p>
          <a:p>
            <a:pPr marL="342900" lvl="0" indent="-342900" algn="ctr">
              <a:lnSpc>
                <a:spcPct val="90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chemeClr val="bg1"/>
                </a:solidFill>
                <a:latin typeface="Aptos Display" panose="02110004020202020204"/>
              </a:rPr>
              <a:t>Highlight where researchers have made sustainable decisions for time and place of their computation</a:t>
            </a:r>
          </a:p>
        </p:txBody>
      </p:sp>
    </p:spTree>
    <p:extLst>
      <p:ext uri="{BB962C8B-B14F-4D97-AF65-F5344CB8AC3E}">
        <p14:creationId xmlns:p14="http://schemas.microsoft.com/office/powerpoint/2010/main" val="4197240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CB6B3-619A-85FD-F2B8-E293156F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CAF32-1E81-F4E6-2BA1-E7B892654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08" y="280271"/>
            <a:ext cx="10558405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Part 2: Hands-On Exercise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DA2A87-6070-449E-B12B-7CE51FA8B29A}"/>
              </a:ext>
            </a:extLst>
          </p:cNvPr>
          <p:cNvSpPr/>
          <p:nvPr/>
        </p:nvSpPr>
        <p:spPr>
          <a:xfrm>
            <a:off x="1137920" y="1971040"/>
            <a:ext cx="4307840" cy="417576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 err="1"/>
              <a:t>CodeCarbon</a:t>
            </a:r>
            <a:r>
              <a:rPr lang="en-GB" sz="2800" b="1" dirty="0"/>
              <a:t> </a:t>
            </a:r>
            <a:r>
              <a:rPr lang="en-GB" sz="2800" dirty="0"/>
              <a:t>used to track the energy consumption and emissions of a Monte Carlo </a:t>
            </a:r>
            <a:r>
              <a:rPr lang="en-GB" sz="2800" b="1" dirty="0"/>
              <a:t>neutron transport simulation</a:t>
            </a:r>
            <a:r>
              <a:rPr lang="en-GB" sz="2800" dirty="0"/>
              <a:t>. 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B23548-E3CB-9062-4B64-59B6D1182F47}"/>
              </a:ext>
            </a:extLst>
          </p:cNvPr>
          <p:cNvSpPr/>
          <p:nvPr/>
        </p:nvSpPr>
        <p:spPr>
          <a:xfrm>
            <a:off x="6390640" y="1971040"/>
            <a:ext cx="4307840" cy="417576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The resulting metrics were stored as a </a:t>
            </a:r>
            <a:r>
              <a:rPr lang="en-GB" sz="2800" b="1" dirty="0"/>
              <a:t>GreenMetaData .</a:t>
            </a:r>
            <a:r>
              <a:rPr lang="en-GB" sz="2800" b="1" dirty="0" err="1"/>
              <a:t>yml</a:t>
            </a:r>
            <a:r>
              <a:rPr lang="en-GB" sz="2800" b="1" dirty="0"/>
              <a:t> </a:t>
            </a:r>
            <a:r>
              <a:rPr lang="en-GB" sz="2800" dirty="0"/>
              <a:t>file, including the </a:t>
            </a:r>
            <a:r>
              <a:rPr lang="en-GB" sz="2800" b="1" dirty="0"/>
              <a:t>embodied</a:t>
            </a:r>
            <a:r>
              <a:rPr lang="en-GB" sz="2800" dirty="0"/>
              <a:t> carbon cost of the laptop (Lenovo ThinkPad T14 Gen 3 AMD)</a:t>
            </a:r>
          </a:p>
        </p:txBody>
      </p:sp>
    </p:spTree>
    <p:extLst>
      <p:ext uri="{BB962C8B-B14F-4D97-AF65-F5344CB8AC3E}">
        <p14:creationId xmlns:p14="http://schemas.microsoft.com/office/powerpoint/2010/main" val="1260564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F6A96-4B24-0581-82F8-B63EEC7D0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93FF6-4802-0549-C3D6-0F874E1B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08" y="280271"/>
            <a:ext cx="10558405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Initial Tracking Results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3F36CC9-D043-4064-0F4D-A493EF70CB21}"/>
              </a:ext>
            </a:extLst>
          </p:cNvPr>
          <p:cNvSpPr/>
          <p:nvPr/>
        </p:nvSpPr>
        <p:spPr>
          <a:xfrm>
            <a:off x="934720" y="1889760"/>
            <a:ext cx="4358640" cy="389128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Initially, the simulation was run not in parallel, and only 1 core I </a:t>
            </a:r>
            <a:r>
              <a:rPr lang="en-GB" dirty="0" err="1"/>
              <a:t>sused</a:t>
            </a:r>
            <a:r>
              <a:rPr lang="en-GB" dirty="0"/>
              <a:t> at a time. This resulted in very long runtimes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ECA9AF6-101C-3BE2-F1B8-C161D265E0C6}"/>
              </a:ext>
            </a:extLst>
          </p:cNvPr>
          <p:cNvSpPr/>
          <p:nvPr/>
        </p:nvSpPr>
        <p:spPr>
          <a:xfrm>
            <a:off x="6096000" y="1615440"/>
            <a:ext cx="5577840" cy="4866640"/>
          </a:xfrm>
          <a:prstGeom prst="rightArrow">
            <a:avLst>
              <a:gd name="adj1" fmla="val 76722"/>
              <a:gd name="adj2" fmla="val 50000"/>
            </a:avLst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Potential Improvement using Green Software Pattern:</a:t>
            </a:r>
          </a:p>
          <a:p>
            <a:pPr algn="ctr"/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Optimise CPU utilisation by parallelising the workload, so more than 1 of the 16 threads in the CPU are occupied</a:t>
            </a:r>
          </a:p>
        </p:txBody>
      </p:sp>
    </p:spTree>
    <p:extLst>
      <p:ext uri="{BB962C8B-B14F-4D97-AF65-F5344CB8AC3E}">
        <p14:creationId xmlns:p14="http://schemas.microsoft.com/office/powerpoint/2010/main" val="396845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F07AE-29E9-3605-30C6-04829D086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A3803-20AD-2EB0-167A-7097B2848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08" y="280271"/>
            <a:ext cx="10558405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Parallel Computation Results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1BA8723-A930-6243-129A-8CD94E0CC570}"/>
              </a:ext>
            </a:extLst>
          </p:cNvPr>
          <p:cNvSpPr/>
          <p:nvPr/>
        </p:nvSpPr>
        <p:spPr>
          <a:xfrm>
            <a:off x="1137920" y="1971040"/>
            <a:ext cx="4307840" cy="4175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CPU power draw increased…</a:t>
            </a:r>
          </a:p>
          <a:p>
            <a:pPr algn="ctr"/>
            <a:r>
              <a:rPr lang="en-GB" sz="4000" dirty="0">
                <a:solidFill>
                  <a:schemeClr val="accent6">
                    <a:lumMod val="50000"/>
                  </a:schemeClr>
                </a:solidFill>
              </a:rPr>
              <a:t>But </a:t>
            </a:r>
            <a:r>
              <a:rPr lang="en-GB" sz="4000" b="1" dirty="0">
                <a:solidFill>
                  <a:schemeClr val="accent6">
                    <a:lumMod val="50000"/>
                  </a:schemeClr>
                </a:solidFill>
              </a:rPr>
              <a:t>run-times plummeted</a:t>
            </a:r>
            <a:r>
              <a:rPr lang="en-GB" sz="3200" dirty="0">
                <a:solidFill>
                  <a:schemeClr val="accent6">
                    <a:lumMod val="50000"/>
                  </a:schemeClr>
                </a:solidFill>
              </a:rPr>
              <a:t>. </a:t>
            </a:r>
          </a:p>
          <a:p>
            <a:pPr algn="ctr"/>
            <a:endParaRPr lang="en-GB" dirty="0">
              <a:solidFill>
                <a:schemeClr val="accent6">
                  <a:lumMod val="50000"/>
                </a:schemeClr>
              </a:solidFill>
            </a:endParaRPr>
          </a:p>
          <a:p>
            <a:pPr algn="ctr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Computational idle time is reduced and energy efficiency is improved.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09831FE-4FD8-A7BB-AFE0-9B25599234D3}"/>
              </a:ext>
            </a:extLst>
          </p:cNvPr>
          <p:cNvSpPr/>
          <p:nvPr/>
        </p:nvSpPr>
        <p:spPr>
          <a:xfrm>
            <a:off x="6390640" y="1971040"/>
            <a:ext cx="4307840" cy="4175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accent6">
                    <a:lumMod val="50000"/>
                  </a:schemeClr>
                </a:solidFill>
              </a:rPr>
              <a:t>Total energy consumption is </a:t>
            </a:r>
            <a:r>
              <a:rPr lang="en-GB" sz="4000" b="1" dirty="0">
                <a:solidFill>
                  <a:schemeClr val="accent6">
                    <a:lumMod val="50000"/>
                  </a:schemeClr>
                </a:solidFill>
              </a:rPr>
              <a:t>halved</a:t>
            </a:r>
            <a:r>
              <a:rPr lang="en-GB" sz="4000" dirty="0">
                <a:solidFill>
                  <a:schemeClr val="accent6">
                    <a:lumMod val="50000"/>
                  </a:schemeClr>
                </a:solidFill>
              </a:rPr>
              <a:t>!</a:t>
            </a:r>
          </a:p>
          <a:p>
            <a:pPr algn="ctr"/>
            <a:r>
              <a:rPr lang="en-GB" sz="2400" dirty="0">
                <a:solidFill>
                  <a:schemeClr val="accent6">
                    <a:lumMod val="50000"/>
                  </a:schemeClr>
                </a:solidFill>
              </a:rPr>
              <a:t>Initial energy consumption: </a:t>
            </a:r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0.0040 kWh</a:t>
            </a:r>
          </a:p>
          <a:p>
            <a:pPr algn="ctr"/>
            <a:r>
              <a:rPr lang="en-GB" sz="2400" dirty="0">
                <a:solidFill>
                  <a:schemeClr val="accent6">
                    <a:lumMod val="50000"/>
                  </a:schemeClr>
                </a:solidFill>
              </a:rPr>
              <a:t>Parallelised energy consumption: </a:t>
            </a:r>
          </a:p>
          <a:p>
            <a:pPr algn="ctr"/>
            <a:r>
              <a:rPr lang="en-GB" sz="2800" b="1" dirty="0">
                <a:solidFill>
                  <a:schemeClr val="accent6">
                    <a:lumMod val="50000"/>
                  </a:schemeClr>
                </a:solidFill>
              </a:rPr>
              <a:t>0.0019 kWh</a:t>
            </a:r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5102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42646-1EF9-FEF4-1566-B7DEA0DA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BC38-381B-091B-A8EC-2291D91A1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508" y="280271"/>
            <a:ext cx="10558405" cy="1059999"/>
          </a:xfrm>
          <a:solidFill>
            <a:srgbClr val="7DC267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dirty="0">
                <a:solidFill>
                  <a:schemeClr val="bg1"/>
                </a:solidFill>
              </a:rPr>
              <a:t>Wider Impacts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87E877-E83A-80A0-A5A4-2B370F6CBB8B}"/>
              </a:ext>
            </a:extLst>
          </p:cNvPr>
          <p:cNvSpPr/>
          <p:nvPr/>
        </p:nvSpPr>
        <p:spPr>
          <a:xfrm>
            <a:off x="1137920" y="1971040"/>
            <a:ext cx="4307840" cy="4175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Increasing CPU utilisation may not always increase energy efficiency.</a:t>
            </a:r>
          </a:p>
          <a:p>
            <a:pPr algn="ctr"/>
            <a:r>
              <a:rPr lang="en-GB" sz="2800" dirty="0">
                <a:solidFill>
                  <a:schemeClr val="accent6">
                    <a:lumMod val="50000"/>
                  </a:schemeClr>
                </a:solidFill>
              </a:rPr>
              <a:t>The key idea is average CPU utilisation (green software pattern)</a:t>
            </a:r>
          </a:p>
          <a:p>
            <a:pPr algn="ctr"/>
            <a:r>
              <a:rPr lang="en-GB" sz="1200" dirty="0">
                <a:hlinkClick r:id="rId2"/>
              </a:rPr>
              <a:t>Optimize average CPU utilization | Green Software Patterns</a:t>
            </a:r>
            <a:endParaRPr lang="en-GB" sz="12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2694B25-8BB2-BEB2-9788-1B7BE20E4420}"/>
              </a:ext>
            </a:extLst>
          </p:cNvPr>
          <p:cNvSpPr/>
          <p:nvPr/>
        </p:nvSpPr>
        <p:spPr>
          <a:xfrm>
            <a:off x="6390640" y="1971040"/>
            <a:ext cx="4307840" cy="4175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Goal</a:t>
            </a:r>
            <a:r>
              <a:rPr lang="en-GB">
                <a:solidFill>
                  <a:schemeClr val="accent6">
                    <a:lumMod val="50000"/>
                  </a:schemeClr>
                </a:solidFill>
              </a:rPr>
              <a:t>: minimise large </a:t>
            </a:r>
            <a:r>
              <a:rPr lang="en-GB" dirty="0">
                <a:solidFill>
                  <a:schemeClr val="accent6">
                    <a:lumMod val="50000"/>
                  </a:schemeClr>
                </a:solidFill>
              </a:rPr>
              <a:t>fluctuations in CPU load</a:t>
            </a:r>
          </a:p>
        </p:txBody>
      </p:sp>
    </p:spTree>
    <p:extLst>
      <p:ext uri="{BB962C8B-B14F-4D97-AF65-F5344CB8AC3E}">
        <p14:creationId xmlns:p14="http://schemas.microsoft.com/office/powerpoint/2010/main" val="13702496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1826</TotalTime>
  <Words>528</Words>
  <Application>Microsoft Office PowerPoint</Application>
  <PresentationFormat>Widescreen</PresentationFormat>
  <Paragraphs>60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GSoC – GreenMetaData Project</vt:lpstr>
      <vt:lpstr>Green Computing… Why?</vt:lpstr>
      <vt:lpstr>GreenMetaData</vt:lpstr>
      <vt:lpstr>Topics of Interest: Immediate Impacts</vt:lpstr>
      <vt:lpstr>Topics of Interest: Contributions to the future </vt:lpstr>
      <vt:lpstr>Part 2: Hands-On Exercise</vt:lpstr>
      <vt:lpstr>Initial Tracking Results</vt:lpstr>
      <vt:lpstr>Parallel Computation Results</vt:lpstr>
      <vt:lpstr>Wider Impacts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Rosie Schiffmann</dc:creator>
  <cp:lastModifiedBy>Rosie Schiffmann</cp:lastModifiedBy>
  <cp:revision>2</cp:revision>
  <dcterms:created xsi:type="dcterms:W3CDTF">2026-03-10T12:17:47Z</dcterms:created>
  <dcterms:modified xsi:type="dcterms:W3CDTF">2026-03-11T18:43:54Z</dcterms:modified>
</cp:coreProperties>
</file>